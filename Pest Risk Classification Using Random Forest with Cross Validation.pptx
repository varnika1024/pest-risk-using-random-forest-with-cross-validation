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Plus Jakarta Sans" panose="020B0604020202020204" charset="0"/>
      <p:regular r:id="rId17"/>
      <p:bold r:id="rId18"/>
      <p:italic r:id="rId19"/>
      <p:boldItalic r:id="rId20"/>
    </p:embeddedFont>
    <p:embeddedFont>
      <p:font typeface="Space Grotesk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DE623A-DA05-4211-B0FE-4CABAB082EC6}">
  <a:tblStyle styleId="{53DE623A-DA05-4211-B0FE-4CABAB082E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E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5476875"/>
            <a:ext cx="108204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85800" y="2531864"/>
            <a:ext cx="9901237" cy="105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Pest Risk Classification Using Random Forest with Cross-Validation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85800" y="5886450"/>
            <a:ext cx="3548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K. Aasritha Sai Lakshmi 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(2520090006)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85800" y="6124575"/>
            <a:ext cx="3548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Komali Varnika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(2520090010)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34176-A50D-2772-D79F-2EB7728D4566}"/>
              </a:ext>
            </a:extLst>
          </p:cNvPr>
          <p:cNvSpPr txBox="1"/>
          <p:nvPr/>
        </p:nvSpPr>
        <p:spPr>
          <a:xfrm>
            <a:off x="3862465" y="5755243"/>
            <a:ext cx="4467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20</a:t>
            </a:r>
          </a:p>
          <a:p>
            <a:r>
              <a:rPr lang="en-IN" dirty="0">
                <a:solidFill>
                  <a:schemeClr val="bg1"/>
                </a:solidFill>
              </a:rPr>
              <a:t>COURSE NAME: -MACHINE LEARNING</a:t>
            </a:r>
          </a:p>
          <a:p>
            <a:r>
              <a:rPr lang="en-IN" dirty="0">
                <a:solidFill>
                  <a:schemeClr val="bg1"/>
                </a:solidFill>
              </a:rPr>
              <a:t>COURSE CODE: - 25SC2107E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706885"/>
            <a:ext cx="34797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356050" y="2706885"/>
            <a:ext cx="34797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102500" y="2835473"/>
            <a:ext cx="347975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30212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2275" y="30212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8725" y="314979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075" y="311646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7525" y="311646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3975" y="324504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&amp; BACKGROUND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Pest Risk Analytics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85825" y="3573660"/>
            <a:ext cx="38420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Agricultural Context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85825" y="3907035"/>
            <a:ext cx="30225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Microclimate fluctuations accelerate destructive insect infestations.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32275" y="3573660"/>
            <a:ext cx="38420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Machine Learning Role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32275" y="3907035"/>
            <a:ext cx="30225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Learns complex non-linear interactions across weather parameters.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78725" y="3702248"/>
            <a:ext cx="381327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Quantitative Value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78725" y="4035623"/>
            <a:ext cx="30225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Produces continuous numerical risk index for targeted protection.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609600" y="2277665"/>
            <a:ext cx="5314950" cy="3144440"/>
          </a:xfrm>
          <a:prstGeom prst="roundRect">
            <a:avLst>
              <a:gd name="adj" fmla="val 4240"/>
            </a:avLst>
          </a:prstGeom>
          <a:solidFill>
            <a:srgbClr val="FEF2F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267450" y="2277665"/>
            <a:ext cx="5315100" cy="3144300"/>
          </a:xfrm>
          <a:prstGeom prst="roundRect">
            <a:avLst>
              <a:gd name="adj" fmla="val 4240"/>
            </a:avLst>
          </a:prstGeom>
          <a:solidFill>
            <a:srgbClr val="F0FDF4"/>
          </a:solidFill>
          <a:ln w="9525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262056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1775" y="262056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CHALLENGES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23925" y="4907756"/>
            <a:ext cx="5857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Consequence: Substantial crop loss &amp; environmental toxicity.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81775" y="4907756"/>
            <a:ext cx="56102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Result: Cost-efficient, sustainable agricultural intervention.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247775" y="2591990"/>
            <a:ext cx="258782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Limitations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23925" y="3011090"/>
            <a:ext cx="47815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Reactive Scouting:</a:t>
            </a:r>
            <a:r>
              <a:rPr lang="en-US" sz="1350" b="0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Infestation detected after crop damage occurs.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23925" y="3624262"/>
            <a:ext cx="47815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Qualitative Guesses:</a:t>
            </a:r>
            <a:r>
              <a:rPr lang="en-US" sz="1350" b="0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Lacks precise numerical risk quantification.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23925" y="4237434"/>
            <a:ext cx="47815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Overuse of Chemicals:</a:t>
            </a:r>
            <a:r>
              <a:rPr lang="en-US" sz="1350" b="0" i="0" u="none" strike="noStrike" cap="none">
                <a:solidFill>
                  <a:srgbClr val="451A0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Blind pesticide spraying increases costs.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05625" y="259199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Addressed Gap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81775" y="3011090"/>
            <a:ext cx="47815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Proactive Forecasts:</a:t>
            </a: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Pre-emptive pest alerts driven by weather trends.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81775" y="3624262"/>
            <a:ext cx="47815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Scoring:</a:t>
            </a: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Regression values for granular risk tiers.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81775" y="4237434"/>
            <a:ext cx="47815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Targeted Defense:</a:t>
            </a: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Data-backed precision pesticide schedules.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505325" y="2605348"/>
            <a:ext cx="2571900" cy="1895400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305675" y="2714885"/>
            <a:ext cx="25719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106025" y="2605348"/>
            <a:ext cx="2571900" cy="1895400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906375" y="2605348"/>
            <a:ext cx="2571900" cy="1895400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450" y="2881573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3800" y="2991110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4150" y="2881573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500" y="2881573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43450" y="3262573"/>
            <a:ext cx="2750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Algorithmic Fit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43450" y="3567373"/>
            <a:ext cx="219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Ensembles excel on tabular agro-climatic data.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543800" y="3372110"/>
            <a:ext cx="2750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Economic Impact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3543800" y="3676910"/>
            <a:ext cx="219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Minimizes crop yield destruction for farmers.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344150" y="3262573"/>
            <a:ext cx="2750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Comparison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344150" y="3567373"/>
            <a:ext cx="2190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Benchmarked against standard Linear Regression.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144500" y="3262573"/>
            <a:ext cx="2750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Ready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144500" y="3567373"/>
            <a:ext cx="219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Deployable via lightweight REST prediction APIs.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609600" y="1925835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09600" y="2925960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09600" y="3926085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09600" y="4926210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885825" y="217824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09600" y="276403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09600" y="192583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09600" y="1925835"/>
            <a:ext cx="47625" cy="847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1572875" y="1925835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85825" y="317837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09600" y="376416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09600" y="292596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09600" y="2925960"/>
            <a:ext cx="47625" cy="8477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11572875" y="2925960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885825" y="417849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09600" y="476428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09600" y="392608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09600" y="3926085"/>
            <a:ext cx="47625" cy="8477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11572875" y="3926085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85825" y="517862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09600" y="576441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09600" y="492621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09600" y="4926210"/>
            <a:ext cx="47625" cy="8477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11572875" y="4926210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GOALS &amp; TARGETS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Project Objectives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42950" y="2178248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42950" y="3178373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42950" y="4178498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42950" y="5178623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419225" y="2106810"/>
            <a:ext cx="10772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Preprocessing &amp; Feature Scaling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419225" y="2373510"/>
            <a:ext cx="107727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agricultural attributes and standardize multi-source environmental variables.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419225" y="3106935"/>
            <a:ext cx="10772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Unsupervised Exploratory Structure Analysis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419225" y="3373635"/>
            <a:ext cx="107727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Apply K-Means clustering and PCA to discover latent environmental data clusters.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419225" y="4107060"/>
            <a:ext cx="10772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Ensemble Model Training &amp; Benchmarking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419225" y="4373760"/>
            <a:ext cx="107727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 Random Forest Regressor and benchmark against Linear Regression baseline.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419225" y="5107185"/>
            <a:ext cx="10772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K-Fold Cross-Validation &amp; Tuning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419225" y="5373885"/>
            <a:ext cx="107727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 k-fold cross-validation and optimize hyperparameters via GridSearchCV.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609600" y="2292548"/>
            <a:ext cx="5334000" cy="3114675"/>
          </a:xfrm>
          <a:prstGeom prst="roundRect">
            <a:avLst>
              <a:gd name="adj" fmla="val 428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248400" y="2292548"/>
            <a:ext cx="5334000" cy="3114675"/>
          </a:xfrm>
          <a:prstGeom prst="roundRect">
            <a:avLst>
              <a:gd name="adj" fmla="val 4281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923925" y="4664273"/>
            <a:ext cx="4705350" cy="428625"/>
          </a:xfrm>
          <a:prstGeom prst="roundRect">
            <a:avLst>
              <a:gd name="adj" fmla="val 1777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562725" y="4664273"/>
            <a:ext cx="4705350" cy="428625"/>
          </a:xfrm>
          <a:prstGeom prst="roundRect">
            <a:avLst>
              <a:gd name="adj" fmla="val 17777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COMPARATIVE EVALUATION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vs. Proposed System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923925" y="2606873"/>
            <a:ext cx="617577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System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095375" y="4778573"/>
            <a:ext cx="5453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Status: High overhead and slow mitigation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562725" y="2606873"/>
            <a:ext cx="5629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ML System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734175" y="4778573"/>
            <a:ext cx="5453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Outcome: Objective, automated and scalable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23925" y="3045023"/>
            <a:ext cx="48006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Inspections: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Subjective and labor-intensive field checking.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23925" y="3635573"/>
            <a:ext cx="48006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Delayed Response: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Warnings generated after visible plant damage.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23925" y="4226123"/>
            <a:ext cx="48006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Thresholds: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Inflexible rule formulas failing across seasons.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562725" y="3045023"/>
            <a:ext cx="48006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Data-Driven Models:</a:t>
            </a: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Random Forest captures complex non-linear patterns.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562725" y="3635573"/>
            <a:ext cx="48006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Warning:</a:t>
            </a: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Forecasts continuous risk score from weather trends.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562725" y="4226123"/>
            <a:ext cx="48006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Validated Reliability:</a:t>
            </a: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Cross-validation guarantees generalization.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/>
          <p:nvPr/>
        </p:nvSpPr>
        <p:spPr>
          <a:xfrm>
            <a:off x="609600" y="3002160"/>
            <a:ext cx="1783109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2907059" y="2892623"/>
            <a:ext cx="1783109" cy="1914525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204519" y="2892623"/>
            <a:ext cx="1783109" cy="1914525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501979" y="2892623"/>
            <a:ext cx="1783109" cy="1914525"/>
          </a:xfrm>
          <a:prstGeom prst="roundRect">
            <a:avLst>
              <a:gd name="adj" fmla="val 6410"/>
            </a:avLst>
          </a:prstGeom>
          <a:solidFill>
            <a:srgbClr val="DCFCE7"/>
          </a:solidFill>
          <a:ln w="9525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9799439" y="3002160"/>
            <a:ext cx="1783109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4159" y="375463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1619" y="375463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9079" y="375463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6539" y="375463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8205" y="324028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4240" y="313074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67412" y="3130748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3447" y="31307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6619" y="32402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BLUEPRINT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 &amp; Data Pipeline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593521" y="3583185"/>
            <a:ext cx="18152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Input Data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36742" y="3859410"/>
            <a:ext cx="1728824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Temp, Humidity, Rain, Crop Age, Soil Moisture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2890981" y="3473648"/>
            <a:ext cx="181526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Preprocessing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2934202" y="3968948"/>
            <a:ext cx="1728824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Imputation, Outlier Capping, MinMax Scaling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5188441" y="3473648"/>
            <a:ext cx="181526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EDA (PCA/KM)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231662" y="3968948"/>
            <a:ext cx="1728824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K-Means Clusters &amp; PCA Variance Mapping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7485901" y="3473648"/>
            <a:ext cx="181526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Random Forest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529121" y="3968948"/>
            <a:ext cx="1728824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Ensemble Regressor with K-Fold Validation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9783360" y="3583185"/>
            <a:ext cx="18152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REST Output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9826581" y="3859410"/>
            <a:ext cx="1728824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Score Output &amp; Performance Monitor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6529685" y="1973460"/>
            <a:ext cx="5052714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529685" y="3287910"/>
            <a:ext cx="5052714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529685" y="4602360"/>
            <a:ext cx="5052714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040135"/>
            <a:ext cx="557718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049660"/>
            <a:ext cx="555813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DOMAIN FOCUS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Precision Crop Monitoring &amp; Scouting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767810" y="2173485"/>
            <a:ext cx="54241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Microclimate Correlation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767810" y="2459235"/>
            <a:ext cx="467171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humidity and temperature spikes trigger severe pest proliferation.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767810" y="3487935"/>
            <a:ext cx="54241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Risk Scoring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767810" y="3773685"/>
            <a:ext cx="467171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Replaces arbitrary classifications with precise mathematical risk ratings.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767810" y="4802385"/>
            <a:ext cx="54241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 Support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767810" y="5088135"/>
            <a:ext cx="467171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Enables targeted pesticide allocation prior to visible canopy degradation.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/>
        </p:nvSpPr>
        <p:spPr>
          <a:xfrm>
            <a:off x="539450" y="621850"/>
            <a:ext cx="8301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Agricultural &amp; Weather Features</a:t>
            </a:r>
            <a:endParaRPr sz="2200"/>
          </a:p>
        </p:txBody>
      </p:sp>
      <p:sp>
        <p:nvSpPr>
          <p:cNvPr id="263" name="Google Shape;263;p21"/>
          <p:cNvSpPr txBox="1"/>
          <p:nvPr/>
        </p:nvSpPr>
        <p:spPr>
          <a:xfrm>
            <a:off x="467250" y="2166675"/>
            <a:ext cx="106521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21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Temperature (°C):</a:t>
            </a: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Daily thermal range influencing insect metabolism.</a:t>
            </a:r>
            <a:endParaRPr sz="2150" b="0" i="0" u="none" strike="noStrike" cap="non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99350" y="2967725"/>
            <a:ext cx="10042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21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Relative Humidity (%):</a:t>
            </a: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Crucial catalyst for fungal-pest symbiosis.</a:t>
            </a:r>
            <a:endParaRPr sz="2200"/>
          </a:p>
        </p:txBody>
      </p:sp>
      <p:sp>
        <p:nvSpPr>
          <p:cNvPr id="265" name="Google Shape;265;p21"/>
          <p:cNvSpPr txBox="1"/>
          <p:nvPr/>
        </p:nvSpPr>
        <p:spPr>
          <a:xfrm>
            <a:off x="499350" y="3786675"/>
            <a:ext cx="96813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21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Rainfall (mm):</a:t>
            </a: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Cumulative precipitation affecting canopy moisture.</a:t>
            </a:r>
            <a:endParaRPr sz="2200"/>
          </a:p>
        </p:txBody>
      </p:sp>
      <p:sp>
        <p:nvSpPr>
          <p:cNvPr id="266" name="Google Shape;266;p21"/>
          <p:cNvSpPr txBox="1"/>
          <p:nvPr/>
        </p:nvSpPr>
        <p:spPr>
          <a:xfrm>
            <a:off x="499350" y="4604375"/>
            <a:ext cx="97215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21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Crop Growth Stage:</a:t>
            </a: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Vegetative, flowering, or maturity maturity index.</a:t>
            </a:r>
            <a:endParaRPr sz="2200"/>
          </a:p>
        </p:txBody>
      </p:sp>
      <p:sp>
        <p:nvSpPr>
          <p:cNvPr id="267" name="Google Shape;267;p21"/>
          <p:cNvSpPr txBox="1"/>
          <p:nvPr/>
        </p:nvSpPr>
        <p:spPr>
          <a:xfrm>
            <a:off x="467250" y="5422077"/>
            <a:ext cx="79065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21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Soil Moisture:</a:t>
            </a:r>
            <a:r>
              <a:rPr lang="en-US" sz="21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Volumetric water content around root zone.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/>
          <p:nvPr/>
        </p:nvSpPr>
        <p:spPr>
          <a:xfrm>
            <a:off x="609600" y="1916310"/>
            <a:ext cx="5741044" cy="386715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693544" y="1916310"/>
            <a:ext cx="4888855" cy="3867150"/>
          </a:xfrm>
          <a:prstGeom prst="roundRect">
            <a:avLst>
              <a:gd name="adj" fmla="val 3448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923925" y="4802385"/>
            <a:ext cx="5112394" cy="66675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ALGORITHM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Random Forest Regression Architecture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7007869" y="2883098"/>
            <a:ext cx="518413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Hyperparameter Configuration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923925" y="2230635"/>
            <a:ext cx="671001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Random Forest?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1095375" y="4935735"/>
            <a:ext cx="486474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Benchmark: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Linear Regression used as comparative standard.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923925" y="2649735"/>
            <a:ext cx="520764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Ensemble Bagging: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Combines de-correlated trees to minimize variance.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923925" y="3221235"/>
            <a:ext cx="520764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Non-Linear Modeling: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Naturally handles non-linear agronomic thresholds.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923925" y="3792735"/>
            <a:ext cx="520764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Resistance to Overfitting: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Bootstrap sampling stabilizes predictions.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923925" y="4364235"/>
            <a:ext cx="520764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Importances: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Computes Gini-impurity and split gains.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7007869" y="3254573"/>
            <a:ext cx="1352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n_estimators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10458450" y="3254573"/>
            <a:ext cx="1095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250 Trees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7007869" y="3673673"/>
            <a:ext cx="1219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max_depth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10582275" y="3673673"/>
            <a:ext cx="971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 levels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7007869" y="4092773"/>
            <a:ext cx="18930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min_samples_split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10439400" y="4092773"/>
            <a:ext cx="1114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samples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7007869" y="4511873"/>
            <a:ext cx="1171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Tuning Tool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10048875" y="4511873"/>
            <a:ext cx="1524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GridSearchCV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/>
          <p:nvPr/>
        </p:nvSpPr>
        <p:spPr>
          <a:xfrm>
            <a:off x="609600" y="4349948"/>
            <a:ext cx="35052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614362" y="2964060"/>
            <a:ext cx="357782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4192190" y="2964060"/>
            <a:ext cx="18478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040040" y="2964060"/>
            <a:ext cx="198417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8024217" y="2964060"/>
            <a:ext cx="152533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9549556" y="2964060"/>
            <a:ext cx="20280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4343400" y="4349948"/>
            <a:ext cx="35052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8077200" y="4349948"/>
            <a:ext cx="35052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614362" y="3535560"/>
            <a:ext cx="35778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4192190" y="3535560"/>
            <a:ext cx="1847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6040040" y="3535560"/>
            <a:ext cx="198417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8024217" y="3535560"/>
            <a:ext cx="15253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9549556" y="3535560"/>
            <a:ext cx="20280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614362" y="4107060"/>
            <a:ext cx="3577828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192190" y="4107060"/>
            <a:ext cx="1847850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040040" y="4107060"/>
            <a:ext cx="1984176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8024217" y="4107060"/>
            <a:ext cx="1525339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9549556" y="4107060"/>
            <a:ext cx="2028080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609600" y="2435423"/>
            <a:ext cx="10972800" cy="1685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" name="Google Shape;315;p23"/>
          <p:cNvGraphicFramePr/>
          <p:nvPr/>
        </p:nvGraphicFramePr>
        <p:xfrm>
          <a:off x="609600" y="24354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{53DE623A-DA05-4211-B0FE-4CABAB082EC6}</a:tableStyleId>
              </a:tblPr>
              <a:tblGrid>
                <a:gridCol w="35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8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Evaluated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MAE (Error)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RMSE (Error)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R²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5-Fold CV R²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Linear Regression (Baseline)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4.82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6.14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0.684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0.679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4532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Random Forest Regressor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4532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4532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4532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4532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0.882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6" name="Google Shape;316;p2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PERFORMANCE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Comparative Performance Evaluation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397668" y="4530923"/>
            <a:ext cx="3929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Reduction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397668" y="4769048"/>
            <a:ext cx="39290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-52.9% RMSE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4131468" y="4530923"/>
            <a:ext cx="3929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Explained Variance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4131468" y="4769048"/>
            <a:ext cx="39290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88.7% R² Score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7865268" y="4530923"/>
            <a:ext cx="3929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Cross-Validation Stability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7865268" y="4769048"/>
            <a:ext cx="39290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± 0.008 SD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/>
          <p:nvPr/>
        </p:nvSpPr>
        <p:spPr>
          <a:xfrm>
            <a:off x="1095375" y="2797373"/>
            <a:ext cx="1000125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1095375" y="3359348"/>
            <a:ext cx="1000125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1095375" y="3921323"/>
            <a:ext cx="1000125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1095375" y="4483298"/>
            <a:ext cx="1000125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1095375" y="5045273"/>
            <a:ext cx="1000125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1095375" y="2797373"/>
            <a:ext cx="3140273" cy="13335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1095375" y="3359348"/>
            <a:ext cx="2680245" cy="1333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1095375" y="3921323"/>
            <a:ext cx="1850231" cy="1333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1095375" y="4483298"/>
            <a:ext cx="1320105" cy="13335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1095375" y="5045273"/>
            <a:ext cx="1010096" cy="133350"/>
          </a:xfrm>
          <a:prstGeom prst="roundRect">
            <a:avLst>
              <a:gd name="adj" fmla="val 50000"/>
            </a:avLst>
          </a:prstGeom>
          <a:solidFill>
            <a:srgbClr val="86EF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EXPLAINABILITY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Pest Risk Factor Importance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1095375" y="2521148"/>
            <a:ext cx="216693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Relative Humidity (%)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10563225" y="2521148"/>
            <a:ext cx="8191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31.4%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1095375" y="3083123"/>
            <a:ext cx="26908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Temperature (°C)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10534650" y="3083123"/>
            <a:ext cx="847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26.8%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1095375" y="3645098"/>
            <a:ext cx="1952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Soil Moisture Index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10572750" y="3645098"/>
            <a:ext cx="809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18.5%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1095375" y="4207073"/>
            <a:ext cx="20240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Crop Growth Stage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10572750" y="4207073"/>
            <a:ext cx="809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13.2%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1095375" y="4769048"/>
            <a:ext cx="25360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Cumulative Rainfall (mm)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10601325" y="4769048"/>
            <a:ext cx="781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10.1%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D7A8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/>
          <p:nvPr/>
        </p:nvSpPr>
        <p:spPr>
          <a:xfrm>
            <a:off x="609600" y="2900362"/>
            <a:ext cx="3505200" cy="1899046"/>
          </a:xfrm>
          <a:prstGeom prst="roundRect">
            <a:avLst>
              <a:gd name="adj" fmla="val 601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4343400" y="2900362"/>
            <a:ext cx="3505200" cy="1899046"/>
          </a:xfrm>
          <a:prstGeom prst="roundRect">
            <a:avLst>
              <a:gd name="adj" fmla="val 601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8077200" y="2900362"/>
            <a:ext cx="3505200" cy="1899046"/>
          </a:xfrm>
          <a:prstGeom prst="roundRect">
            <a:avLst>
              <a:gd name="adj" fmla="val 601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1525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5325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8687" y="32718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32718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0575" y="32718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 &amp; ADOPTION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Applications &amp; Project Advantages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847725" y="370998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Farmers &amp; Growers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847725" y="404336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Timely advisories reduce spray frequency and input costs.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4581525" y="370998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Agri-Extension Offices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4581525" y="404336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Prioritizes regional surveillance and extension visits.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8315325" y="3709987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Eco-Sustainability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8315325" y="404336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Minimizes chemical runoff into soil and local waterways.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E17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"/>
          <p:cNvSpPr txBox="1"/>
          <p:nvPr/>
        </p:nvSpPr>
        <p:spPr>
          <a:xfrm>
            <a:off x="875650" y="3102414"/>
            <a:ext cx="99012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Widescreen</PresentationFormat>
  <Paragraphs>147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Space Grotesk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Aasritha sai lakshmi Kallepalli</cp:lastModifiedBy>
  <cp:revision>1</cp:revision>
  <dcterms:modified xsi:type="dcterms:W3CDTF">2026-10-14T04:51:43Z</dcterms:modified>
</cp:coreProperties>
</file>